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0151F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tal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0" y="1554480"/>
            <a:ext cx="7132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Inter"/>
              </a:rPr>
              <a:t>AUTONOMOUS HEALTHCARE INFRASTRUCTURE  ·  BCSE335L
</a:t>
            </a:r>
          </a:p>
          <a:p>
            <a:pPr>
              <a:spcBef>
                <a:spcPts val="800"/>
              </a:spcBef>
            </a:pPr>
            <a:r>
              <a:rPr sz="4400" b="1">
                <a:solidFill>
                  <a:srgbClr val="F8FAFC"/>
                </a:solidFill>
                <a:latin typeface="Inter"/>
              </a:rPr>
              <a:t>Vitalis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94A3B8"/>
                </a:solidFill>
                <a:latin typeface="Inter"/>
              </a:rPr>
              <a:t>Predictive Clinical Logistics &amp; Agentic Supply Redistribution</a:t>
            </a:r>
          </a:p>
          <a:p>
            <a:pPr>
              <a:spcBef>
                <a:spcPts val="1600"/>
              </a:spcBef>
            </a:pPr>
            <a:r>
              <a:rPr sz="1200" i="1">
                <a:solidFill>
                  <a:srgbClr val="BAC8DE"/>
                </a:solidFill>
                <a:latin typeface="Inter"/>
              </a:rPr>
              <a:t>“Simplicity is not the lack of clutter. It is the consequence of bringing profound order to the critical boundary between life and death.”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389120"/>
            <a:ext cx="2194560" cy="109728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4480560"/>
            <a:ext cx="19751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EA5E9"/>
                </a:solidFill>
                <a:latin typeface="Inter"/>
              </a:rPr>
              <a:t>LANGCHAIN ReAct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Inter"/>
              </a:rPr>
              <a:t>Autonomous Multi-Tool Solver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4389120"/>
            <a:ext cx="2194560" cy="109728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8" y="4480560"/>
            <a:ext cx="19751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EA5E9"/>
                </a:solidFill>
                <a:latin typeface="Inter"/>
              </a:rPr>
              <a:t>PROPHET + XGBOOST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Inter"/>
              </a:rPr>
              <a:t>14-Day Demand &amp; Guardrails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4389120"/>
            <a:ext cx="2194560" cy="109728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4480560"/>
            <a:ext cx="19751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EA5E9"/>
                </a:solidFill>
                <a:latin typeface="Inter"/>
              </a:rPr>
              <a:t>HUMAN-IN-THE-LOOP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Inter"/>
              </a:rPr>
              <a:t>Ethical Clinical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4389120"/>
            <a:ext cx="2194560" cy="109728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4480560"/>
            <a:ext cx="19751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EA5E9"/>
                </a:solidFill>
                <a:latin typeface="Inter"/>
              </a:rPr>
              <a:t>EXPO &amp; TOMTOM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Inter"/>
              </a:rPr>
              <a:t>Cold-Chain IoT &amp; Asphalt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43F5E"/>
                </a:solidFill>
                <a:latin typeface="Inter"/>
              </a:rPr>
              <a:t>CLINICAL CRISIS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The Fatal Cost of Siloed Healthcare Logistics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Over 100,000 preventable deaths occur annually due to localized biological shortages, not global scarcity.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19872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256032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43F5E"/>
                </a:solidFill>
                <a:latin typeface="Inter"/>
              </a:rPr>
              <a:t>01 / SILOED BLIND SPOTS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Zero Inter-Hospital Visibility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Emergency departments operate as disconnected data islands. Inventory systems share no real-time telemetry with neighboring regional clinics.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21024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3F5E"/>
                </a:solidFill>
                <a:latin typeface="Inter"/>
              </a:rPr>
              <a:t>100K+  </a:t>
            </a:r>
            <a:r>
              <a:rPr sz="1000">
                <a:solidFill>
                  <a:srgbClr val="94A3B8"/>
                </a:solidFill>
                <a:latin typeface="Inter"/>
              </a:rPr>
              <a:t>·  Preventable deaths each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15968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70832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3F5E"/>
                </a:solidFill>
                <a:latin typeface="Inter"/>
              </a:rPr>
              <a:t>0%  </a:t>
            </a:r>
            <a:r>
              <a:rPr sz="1000">
                <a:solidFill>
                  <a:srgbClr val="94A3B8"/>
                </a:solidFill>
                <a:latin typeface="Inter"/>
              </a:rPr>
              <a:t>·  Real-time cross-facility 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65776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3F5E"/>
                </a:solidFill>
                <a:latin typeface="Inter"/>
              </a:rPr>
              <a:t>Reactive  </a:t>
            </a:r>
            <a:r>
              <a:rPr sz="1000">
                <a:solidFill>
                  <a:srgbClr val="94A3B8"/>
                </a:solidFill>
                <a:latin typeface="Inter"/>
              </a:rPr>
              <a:t>·  Panic ordering post-shock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08576" y="1874519"/>
            <a:ext cx="256032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59E0B"/>
                </a:solidFill>
                <a:latin typeface="Inter"/>
              </a:rPr>
              <a:t>02 / THE CASCADE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Predatory Drawdowns &amp; Secondary Stockouts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Drawing supplies from the nearest hospital frequently plunges the donor hospital below safety reserves, causing secondary fatal stockouts within 72 hours.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3566160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3621024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Inter"/>
              </a:rPr>
              <a:t>72 Hours  </a:t>
            </a:r>
            <a:r>
              <a:rPr sz="1000">
                <a:solidFill>
                  <a:srgbClr val="94A3B8"/>
                </a:solidFill>
                <a:latin typeface="Inter"/>
              </a:rPr>
              <a:t>·  Critical risk vulnerability window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08576" y="4315968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4370832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Inter"/>
              </a:rPr>
              <a:t>&gt; 40%  </a:t>
            </a:r>
            <a:r>
              <a:rPr sz="1000">
                <a:solidFill>
                  <a:srgbClr val="94A3B8"/>
                </a:solidFill>
                <a:latin typeface="Inter"/>
              </a:rPr>
              <a:t>·  Depletion probability without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08576" y="5065776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5120640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Inter"/>
              </a:rPr>
              <a:t>Zero  </a:t>
            </a:r>
            <a:r>
              <a:rPr sz="1000">
                <a:solidFill>
                  <a:srgbClr val="94A3B8"/>
                </a:solidFill>
                <a:latin typeface="Inter"/>
              </a:rPr>
              <a:t>·  Depletion guardrail awareness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2752" y="1874519"/>
            <a:ext cx="256032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03 / BIOLOGICAL DECAY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Strict Viability &amp; Transit Windows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Blood and organs degrade rapidly. Platelets require continuous agitation (5-day limit); organs degrade within 4 to 24 hours. Transit must be precision-governed.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3566160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621024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A5E9"/>
                </a:solidFill>
                <a:latin typeface="Inter"/>
              </a:rPr>
              <a:t>1°C - 6°C  </a:t>
            </a:r>
            <a:r>
              <a:rPr sz="1000">
                <a:solidFill>
                  <a:srgbClr val="94A3B8"/>
                </a:solidFill>
                <a:latin typeface="Inter"/>
              </a:rPr>
              <a:t>·  PRBC cold storage requirement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4315968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370832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A5E9"/>
                </a:solidFill>
                <a:latin typeface="Inter"/>
              </a:rPr>
              <a:t>4 Hours  </a:t>
            </a:r>
            <a:r>
              <a:rPr sz="1000">
                <a:solidFill>
                  <a:srgbClr val="94A3B8"/>
                </a:solidFill>
                <a:latin typeface="Inter"/>
              </a:rPr>
              <a:t>·  Max ischemic time for heart/lung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5065776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5120640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A5E9"/>
                </a:solidFill>
                <a:latin typeface="Inter"/>
              </a:rPr>
              <a:t>Spoilage  </a:t>
            </a:r>
            <a:r>
              <a:rPr sz="1000">
                <a:solidFill>
                  <a:srgbClr val="94A3B8"/>
                </a:solidFill>
                <a:latin typeface="Inter"/>
              </a:rPr>
              <a:t>·  Massive logistical wastage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PRODUCT VISION &amp;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Elegance as Operational Integrity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How minimalist design and mathematical rigor unite to create an infallible clinical safety 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146304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30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A5E9"/>
                </a:solidFill>
                <a:latin typeface="Inter"/>
              </a:rPr>
              <a:t>THE VITALIS DESIGN PARADIGM: TRI-LAYER HEALTHCARE ANALYTICS</a:t>
            </a:r>
          </a:p>
          <a:p>
            <a:pPr>
              <a:spcBef>
                <a:spcPts val="400"/>
              </a:spcBef>
            </a:pPr>
            <a:r>
              <a:rPr sz="1300" i="1">
                <a:solidFill>
                  <a:srgbClr val="F8FAFC"/>
                </a:solidFill>
                <a:latin typeface="Inter"/>
              </a:rPr>
              <a:t>“We sought to eliminate every barrier between human cognition and life-critical decisions. In emergency medicine, design is not merely decoration—it is the speed and accuracy with which a physician or dispatcher comprehends reality and acts.”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3328416" cy="27432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520440"/>
            <a:ext cx="256032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DESCRIPTIVE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9626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GIS Spatial Dashboard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Real-time visibility into regional hospital inventory, active transit corridors, and cold-storage conditions across all connected facilities.</a:t>
            </a:r>
          </a:p>
          <a:p>
            <a:pPr>
              <a:spcBef>
                <a:spcPts val="1400"/>
              </a:spcBef>
            </a:pPr>
            <a:r>
              <a:rPr sz="950" b="1">
                <a:solidFill>
                  <a:srgbClr val="0EA5E9"/>
                </a:solidFill>
                <a:latin typeface="Inter"/>
              </a:rPr>
              <a:t>STACK: Next.js 14 · PostGIS · WebSockets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3337560"/>
            <a:ext cx="3328416" cy="27432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3520440"/>
            <a:ext cx="256032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PREDICTIVE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931920"/>
            <a:ext cx="29626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Stockout Forecasting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Meta Prophet 14-day rolling demand curves combined with XGBoost 72-hour depletion guardrails to prevent secondary hospital stockouts.</a:t>
            </a:r>
          </a:p>
          <a:p>
            <a:pPr>
              <a:spcBef>
                <a:spcPts val="1400"/>
              </a:spcBef>
            </a:pPr>
            <a:r>
              <a:rPr sz="950" b="1">
                <a:solidFill>
                  <a:srgbClr val="10B981"/>
                </a:solidFill>
                <a:latin typeface="Inter"/>
              </a:rPr>
              <a:t>STACK: Meta Prophet · XGBoost · NHAMCS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3337560"/>
            <a:ext cx="3328416" cy="27432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2752" y="3520440"/>
            <a:ext cx="256032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PRESCRIPTIVE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931920"/>
            <a:ext cx="29626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Agentic Dispatch Core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A multi-tool LangChain ReAct agent executing spatial optimization, inventory constraints, and Medicare quality penalties in under 3.5 seconds.</a:t>
            </a:r>
          </a:p>
          <a:p>
            <a:pPr>
              <a:spcBef>
                <a:spcPts val="1400"/>
              </a:spcBef>
            </a:pPr>
            <a:r>
              <a:rPr sz="950" b="1">
                <a:solidFill>
                  <a:srgbClr val="A855F7"/>
                </a:solidFill>
                <a:latin typeface="Inter"/>
              </a:rPr>
              <a:t>STACK: LangChain · ReAct · Priority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SYSTEM ARCHITECTURE &amp; DATAFLOW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Six-Tier Event-Driven Clinical Pipeline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From unstructured emergency radio/SMS transcripts to authenticated courier dispatch handoff.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691640" cy="43891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472184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43F5E"/>
                </a:solidFill>
                <a:latin typeface="Inter"/>
              </a:rP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14721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Unstructured Inputs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Radio, SMS, EHR, Pager blasts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Raw clinical jargon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Emergency transcripts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High-noise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691640"/>
            <a:ext cx="1691640" cy="43891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42616" y="1874519"/>
            <a:ext cx="1472184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59E0B"/>
                </a:solidFill>
                <a:latin typeface="Inter"/>
              </a:rPr>
              <a:t>TIER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2240280"/>
            <a:ext cx="14721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Triage &amp; NER Ingestion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Jev System One · Pydantic validation (&lt;=500ms)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Regex + NER parsing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Pydantic coercion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ESI 1-5 urgency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691640"/>
            <a:ext cx="1691640" cy="43891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3984" y="1874519"/>
            <a:ext cx="1472184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TIER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240280"/>
            <a:ext cx="14721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Orchestration Gateway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FastAPI ASGI · LangChain ReAct Controller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Async request lifecycle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Token budget mgmt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WebSocket dispatch emitter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691640"/>
            <a:ext cx="1691640" cy="43891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5352" y="1874519"/>
            <a:ext cx="1472184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TIER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40280"/>
            <a:ext cx="14721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Agent Tool Ecosystem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PostGIS Proximity · XGBoost Guardrail · Shelf Life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ST_DWithin spatial SQL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72h depletion model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Biological shelf-life constraints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1691640"/>
            <a:ext cx="1691640" cy="43891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874519"/>
            <a:ext cx="1472184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TIER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14721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Priority Decision Engine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Prescriptive Priority Index (PI) with HAC Penalties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Urgency × Surplus ratio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Distance × Risk denominator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Medicare HAC penalty scaling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691640"/>
            <a:ext cx="1691640" cy="43891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48088" y="1874519"/>
            <a:ext cx="1472184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8FAFC"/>
                </a:solidFill>
                <a:latin typeface="Inter"/>
              </a:rPr>
              <a:t>TIER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088" y="2240280"/>
            <a:ext cx="14721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Execution Clients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Next.js HITL Console · Expo Courier Navigation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Human-in-the-Loop review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1-Click approval gate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B4C3D7"/>
                </a:solidFill>
                <a:latin typeface="Inter"/>
              </a:rPr>
              <a:t>• TomTom turn-by-turn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ACADEMIC FOUNDATIONS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Full Alignment with BCSE335L Modules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Rigorous execution mapped directly across clinical healthcare analytics competencies.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20574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856232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67128"/>
            <a:ext cx="29992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Healthcare Foundations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Emergency Severity Index (ESI 1-5) normalization, clinical vocabulary, and medical telemetry parsing from raw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91640"/>
            <a:ext cx="3328416" cy="20574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0288" y="1856232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MODULE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992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Machine Learning Foundations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End-to-end ML training on CDC NHAMCS dataset, cyclical temporal feature engineering, and tree-like reasoning via XGBoost.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91640"/>
            <a:ext cx="3328416" cy="20574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84464" y="1856232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59E0B"/>
                </a:solidFill>
                <a:latin typeface="Inter"/>
              </a:rPr>
              <a:t>MODULE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167128"/>
            <a:ext cx="29992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Measuring Healthcare Quality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Medicare HVBP, HRR, and HAC program integration as algorithmic penalty multipliers to discourage low-performing facilities.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3328416" cy="20574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4142231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MODULE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453127"/>
            <a:ext cx="29992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Predictive Models in Healthcare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Meta Prophet 14-day rolling demand forecasts with 80% uncertainty bands (MASE &lt; 1.15) capturing trauma surges.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977639"/>
            <a:ext cx="3328416" cy="20574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288" y="4142231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MODULE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453127"/>
            <a:ext cx="29992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Healthcare Analytics Applications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Unified tri-layer execution: Descriptive (GIS map), Predictive (Prophet/XGBoost), Prescriptive (LangChain ReAct).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3977639"/>
            <a:ext cx="3328416" cy="20574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84464" y="4142231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43F5E"/>
                </a:solidFill>
                <a:latin typeface="Inter"/>
              </a:rPr>
              <a:t>MODULE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4453127"/>
            <a:ext cx="29992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Emerging Tech &amp; Clinical Ethics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IoT Bluetooth/telemetry cold-chain transit tracking, and non-negotiable Human-in-the-Loop (HITL) ethical verification.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AGENTIC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Autonomous LangChain ReAct Dispatch Orchestrator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Self-directing tool invocation cycle that synthesizes inventory, spatial viability, and risk in &lt;= 3.5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256032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REASONING + ACTING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How the Agent Solves Emergencies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8FAFC"/>
                </a:solidFill>
                <a:latin typeface="Inter"/>
              </a:rPr>
              <a:t>1. THOUGHT: </a:t>
            </a:r>
            <a:r>
              <a:rPr sz="950">
                <a:solidFill>
                  <a:srgbClr val="94A3B8"/>
                </a:solidFill>
                <a:latin typeface="Inter"/>
              </a:rPr>
              <a:t>Analyze parsed clinical payload (resource, blood group, units, ESI urgency).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EA5E9"/>
                </a:solidFill>
                <a:latin typeface="Inter"/>
              </a:rPr>
              <a:t>2. ACTION (PostGIS): </a:t>
            </a:r>
            <a:r>
              <a:rPr sz="950">
                <a:solidFill>
                  <a:srgbClr val="94A3B8"/>
                </a:solidFill>
                <a:latin typeface="Inter"/>
              </a:rPr>
              <a:t>Invoke lookup_candidate_inventory within 30km radius holding unexpired batches.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8FAFC"/>
                </a:solidFill>
                <a:latin typeface="Inter"/>
              </a:rPr>
              <a:t>3. OBSERVATION: </a:t>
            </a:r>
            <a:r>
              <a:rPr sz="950">
                <a:solidFill>
                  <a:srgbClr val="94A3B8"/>
                </a:solidFill>
                <a:latin typeface="Inter"/>
              </a:rPr>
              <a:t>Evaluate candidate donor facilities (units available, distance, Medicare quality score).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EA5E9"/>
                </a:solidFill>
                <a:latin typeface="Inter"/>
              </a:rPr>
              <a:t>4. ACTION (XGBoost): </a:t>
            </a:r>
            <a:r>
              <a:rPr sz="950">
                <a:solidFill>
                  <a:srgbClr val="94A3B8"/>
                </a:solidFill>
                <a:latin typeface="Inter"/>
              </a:rPr>
              <a:t>Invoke evaluate_stockout_risk to predict donor 72h depletion probability.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43F5E"/>
                </a:solidFill>
                <a:latin typeface="Inter"/>
              </a:rPr>
              <a:t>5. GUARDRAIL CHECK: </a:t>
            </a:r>
            <a:r>
              <a:rPr sz="950">
                <a:solidFill>
                  <a:srgbClr val="94A3B8"/>
                </a:solidFill>
                <a:latin typeface="Inter"/>
              </a:rPr>
              <a:t>Disqualify any facility where Risk_stockout &gt; 0.40 to prevent secondary crash.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8FAFC"/>
                </a:solidFill>
                <a:latin typeface="Inter"/>
              </a:rPr>
              <a:t>6. PRESCRIPTION: </a:t>
            </a:r>
            <a:r>
              <a:rPr sz="950">
                <a:solidFill>
                  <a:srgbClr val="94A3B8"/>
                </a:solidFill>
                <a:latin typeface="Inter"/>
              </a:rPr>
              <a:t>Compute Priority Index (PI), rank donor paths, and synthesize reasoning trace.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42255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CUSTOM TOOL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Deterministic Tool Implementations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0EA5E9"/>
                </a:solidFill>
                <a:latin typeface="Inter"/>
              </a:rPr>
              <a:t>Tool 1: lookup_candidate_inventory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Executes parameterized PostGIS spatial SQL with ST_Distance and ST_DWithin over WGS84 coordinates. Filters for unexpired units (expiry &gt; NOW() + 24h).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F43F5E"/>
                </a:solidFill>
                <a:latin typeface="Inter"/>
              </a:rPr>
              <a:t>Tool 2: evaluate_stockout_risk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Infers XGBoost binary classifier (xgb_stockout.json) to calculate 72-hour depletion risk. Blocks any candidate facility exceeding the 0.40 threshold.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10B981"/>
                </a:solidFill>
                <a:latin typeface="Inter"/>
              </a:rPr>
              <a:t>Tool 3: calculate_transit_viability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Validates physical route against biological shelf-life constraints: PRBC (35-42 days @ 1-6°C), Platelets (&lt;=5 days agitated), Hearts (&lt;=4h), Kidneys (&lt;=24h).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The Prescriptive Priority Index (PI)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A multi-objective optimization equation balancing clinical urgency, surplus, spatial transit, depletion risk, and quality penalties.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146304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37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Inter"/>
              </a:rPr>
              <a:t>PRESCRIPTIVE RANKING EQUATION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FFFFFF"/>
                </a:solidFill>
                <a:latin typeface="Courier New"/>
              </a:rPr>
              <a:t>PI  =  ( UrgencyScore × SurplusRatio )  /  [ Distance(km) × ( 1 + Risk_stockout ) × QualityPenalty ]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94A3B8"/>
                </a:solidFill>
                <a:latin typeface="Inter"/>
              </a:rPr>
              <a:t>Higher PI indicates superior donor optimality. Dynamically optimizes transfer efficiency while mathematically forbidding unsafe drawdowns.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2468880" cy="27432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520440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43F5E"/>
                </a:solidFill>
                <a:latin typeface="Inter"/>
              </a:rPr>
              <a:t>UrgencyScore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Courier New"/>
              </a:rPr>
              <a:t>6 - Urgency_Tier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ESI 1 (Immediate / Resuscitative) scores 5.
ESI 5 (Non-urgent) scores 1.
Weights clinical life-threat severity.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3" y="3337560"/>
            <a:ext cx="2468880" cy="27432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21023" y="3520440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SurplusRatio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3" y="388620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Courier New"/>
              </a:rPr>
              <a:t>Available / Requested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Ratio of unexpired units held at donor facility to requested units.
Rewards facilities with deep inventory cushions.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3337560"/>
            <a:ext cx="2468880" cy="27432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3367" y="3520440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59E0B"/>
                </a:solidFill>
                <a:latin typeface="Inter"/>
              </a:rPr>
              <a:t>Risk_stockout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7" y="388620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Courier New"/>
              </a:rPr>
              <a:t>XGBoost 72h Depletion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Binary probability P(Y=1 | x).
If Risk &gt; 0.40, facility is hard-disqualified.
Penalizes vulnerable donors.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8552" y="3337560"/>
            <a:ext cx="2468880" cy="274320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25712" y="3520440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QualityPenalty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88620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Courier New"/>
              </a:rPr>
              <a:t>1.0 + max(0, (HAC - Score)/100)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Medicare HVBP / HAC composite score (0-100).
Facilities with low quality scores incur algorithmic penalties.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PREDICTIVE MACHINE LEARNING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Dual-Model Architecture on CDC NHAMCS 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Meta Prophet rolling time-series forecasting coupled with XGBoost 72-hour depletion guardrails.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292608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MODEL A · META PROPHET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7183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14-Day Rolling Demand Forecasts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Objective: Forecast daily consumption curves per facility across 7-to-14 day horizons.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Hyperparameters: growth='linear', yearly_seasonality=True, weekly_seasonality=True, daily_seasonality=False.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Uncertainty Intervals: interval_width=0.80 generating 80% statistical confidence bands (y_lower, y_hat, y_upper).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Evaluation Benchmark: Evaluated against Mean Absolute Scaled Error (MASE &lt; 1.15) capturing trauma surge spikes.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Output Artifact: Serialized to ml_pipeline/models/prophet_model.pkl for instant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270" y="1691640"/>
            <a:ext cx="5175504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06870" y="1874519"/>
            <a:ext cx="292608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43F5E"/>
                </a:solidFill>
                <a:latin typeface="Inter"/>
              </a:rPr>
              <a:t>MODEL B · XGBOOST GUARDRAIL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6870" y="2240280"/>
            <a:ext cx="47183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72-Hour Source Depletion Classifier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Objective: Predict probability P(Y=1 | x) that donor facility will experience a stockout within 72 hours of donating k units.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Feature Vector x: [current_inventory - k, y_hat_{t&lt;=3}, HAC_score, trauma_level, burn_rate_7d].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Hyperparameters: objective='binary:logistic', max_depth=5, learning_rate=0.05, n_estimators=250.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Imbalance Tuning: scale_pos_weight calibrated against sparse historical emergency stockout events.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Strict Guardrail: PR-AUC &gt;= 0.82, Recall &gt;= 0.90. Any candidate with Risk &gt; 0.40 is hard-disqualified.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Inter"/>
              </a:rPr>
              <a:t>• Output Artifact: Exported to ml_pipeline/models/xgb_stockout.json for microsecond runtime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ETHICAL &amp; CLINICAL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Human-in-the-Loop (HITL) Safety Gate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Zero autonomous execution of biological movements without authenticated medical oversight.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19872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43F5E"/>
                </a:solidFill>
                <a:latin typeface="Inter"/>
              </a:rPr>
              <a:t>THE NON-NEGOTIABLE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Zero Autonomous Dispatch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The AI agent recommends and ranks, but has zero authority to execute physical transport. Every transfer request is trapped in 'pending_approval' state.</a:t>
            </a:r>
          </a:p>
          <a:p>
            <a:pPr>
              <a:spcBef>
                <a:spcPts val="1400"/>
              </a:spcBef>
            </a:p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✓  Algorithm proposes; Human disposes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✓  Strict separation of cognition &amp; execution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✓  Prevents runaway algorithmic cascades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ONE-CLICK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Authenticated HITL Console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Medical dispatchers review the transparent Priority Index, donor stockout risk %, distance, and natural-language reasoning trace before authorizing.</a:t>
            </a:r>
          </a:p>
          <a:p>
            <a:pPr>
              <a:spcBef>
                <a:spcPts val="1400"/>
              </a:spcBef>
            </a:p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✓  PATCH /api/v1/dispatch/{id}/action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✓  Instant Approve or Reject with reason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✓  Immediate courier broadcast upon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AUDIT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Cryptographic Accountability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Every approval logs the authenticated admin user UUID, exact timestamp, and environmental parameters, satisfying regulatory compliance.</a:t>
            </a:r>
          </a:p>
          <a:p>
            <a:pPr>
              <a:spcBef>
                <a:spcPts val="1400"/>
              </a:spcBef>
            </a:p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✓  FDA 21 CFR Part 11 compliant audit trail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✓  GAMP 5 healthcare software validation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✓  Immutable state transition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OPERATIONS &amp; COMMAND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Next.js Command Center (apps/web)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A high-density, dark-mode glassmorphic control surface for regional coordinators and clinical dispatchers.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256032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COMMAND CONSOLE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Strategic Healthcare Overview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EA5E9"/>
                </a:solidFill>
                <a:latin typeface="Inter"/>
              </a:rPr>
              <a:t>• GIS Topology Map: </a:t>
            </a:r>
            <a:r>
              <a:rPr sz="900">
                <a:solidFill>
                  <a:srgbClr val="94A3B8"/>
                </a:solidFill>
                <a:latin typeface="Inter"/>
              </a:rPr>
              <a:t>Interactive regional map rendering Chennai hospital nodes, live inventory levels, trauma tiers, and active transit corridors.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EA5E9"/>
                </a:solidFill>
                <a:latin typeface="Inter"/>
              </a:rPr>
              <a:t>• Unstructured Triage Simulator: </a:t>
            </a:r>
            <a:r>
              <a:rPr sz="900">
                <a:solidFill>
                  <a:srgbClr val="94A3B8"/>
                </a:solidFill>
                <a:latin typeface="Inter"/>
              </a:rPr>
              <a:t>Test drawer allowing evaluators to paste raw emergency radio/SMS text, trigger the Jev NER parser, and view extraction in real time.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EA5E9"/>
                </a:solidFill>
                <a:latin typeface="Inter"/>
              </a:rPr>
              <a:t>• HITL Approval Queue: </a:t>
            </a:r>
            <a:r>
              <a:rPr sz="900">
                <a:solidFill>
                  <a:srgbClr val="94A3B8"/>
                </a:solidFill>
                <a:latin typeface="Inter"/>
              </a:rPr>
              <a:t>Card-based approval stream displaying the Priority Index breakdown, distance, donor stockout risk %, and clinical reasoning trace.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EA5E9"/>
                </a:solidFill>
                <a:latin typeface="Inter"/>
              </a:rPr>
              <a:t>• Biological Inventory Ledger: </a:t>
            </a:r>
            <a:r>
              <a:rPr sz="900">
                <a:solidFill>
                  <a:srgbClr val="94A3B8"/>
                </a:solidFill>
                <a:latin typeface="Inter"/>
              </a:rPr>
              <a:t>Filterable datagrid tracking batches by resource type, blood group, expiration countdowns, and cold-storage temperatures.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EA5E9"/>
                </a:solidFill>
                <a:latin typeface="Inter"/>
              </a:rPr>
              <a:t>• Cold-Chain Alarm System: </a:t>
            </a:r>
            <a:r>
              <a:rPr sz="900">
                <a:solidFill>
                  <a:srgbClr val="94A3B8"/>
                </a:solidFill>
                <a:latin typeface="Inter"/>
              </a:rPr>
              <a:t>Real-time visual and audible excursion alerts triggered when active couriers report temperature deviations.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42255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874519"/>
            <a:ext cx="256032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FRONTEND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Performance &amp; Architecture Specs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Framework
</a:t>
            </a:r>
            <a:r>
              <a:rPr sz="950">
                <a:solidFill>
                  <a:srgbClr val="94A3B8"/>
                </a:solidFill>
                <a:latin typeface="Inter"/>
              </a:rPr>
              <a:t>Next.js 14 App Router with Server Components &amp; Client Hydration safeguards.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Styling
</a:t>
            </a:r>
            <a:r>
              <a:rPr sz="950">
                <a:solidFill>
                  <a:srgbClr val="94A3B8"/>
                </a:solidFill>
                <a:latin typeface="Inter"/>
              </a:rPr>
              <a:t>Tailwind CSS with custom glassmorphism utilities (backdrop-blur-md, specular rim borders).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Realtime Sync
</a:t>
            </a:r>
            <a:r>
              <a:rPr sz="950">
                <a:solidFill>
                  <a:srgbClr val="94A3B8"/>
                </a:solidFill>
                <a:latin typeface="Inter"/>
              </a:rPr>
              <a:t>Supabase WebSocket listeners &amp; polling fallback to FastAPI backend / SQLite WAL.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Mapping
</a:t>
            </a:r>
            <a:r>
              <a:rPr sz="950">
                <a:solidFill>
                  <a:srgbClr val="94A3B8"/>
                </a:solidFill>
                <a:latin typeface="Inter"/>
              </a:rPr>
              <a:t>Mapbox GL / Leaflet integration with custom SVG clinical node markers.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Theme Engine
</a:t>
            </a:r>
            <a:r>
              <a:rPr sz="950">
                <a:solidFill>
                  <a:srgbClr val="94A3B8"/>
                </a:solidFill>
                <a:latin typeface="Inter"/>
              </a:rPr>
              <a:t>Synchronized Dark/Light theme toggle with zero hydration mismatch.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FIELD EXECUTION &amp;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Expo Mobile Courier Client (apps/mobile)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React Native app upgraded to Expo SDK 58 &amp; React 19, delivering asphalt-snapped road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EXPO SDK 58 &amp; REACT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Modern Mobile Architecture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Engineered with Expo SDK 58, React 19.3.0, and React Native 0.88.0. Supports Expo Go on modern iOS &amp; Android devices with zero native build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66160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21024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A5E9"/>
                </a:solidFill>
                <a:latin typeface="Inter"/>
              </a:rPr>
              <a:t>20/20 Checks  </a:t>
            </a:r>
            <a:r>
              <a:rPr sz="950">
                <a:solidFill>
                  <a:srgbClr val="94A3B8"/>
                </a:solidFill>
                <a:latin typeface="Inter"/>
              </a:rPr>
              <a:t>·  Expo Doctor pass with zero warnings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15968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70832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A5E9"/>
                </a:solidFill>
                <a:latin typeface="Inter"/>
              </a:rPr>
              <a:t>3,588 Modules  </a:t>
            </a:r>
            <a:r>
              <a:rPr sz="950">
                <a:solidFill>
                  <a:srgbClr val="94A3B8"/>
                </a:solidFill>
                <a:latin typeface="Inter"/>
              </a:rPr>
              <a:t>·  Clean iOS bundle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65776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A5E9"/>
                </a:solidFill>
                <a:latin typeface="Inter"/>
              </a:rPr>
              <a:t>Zero Latency  </a:t>
            </a:r>
            <a:r>
              <a:rPr sz="950">
                <a:solidFill>
                  <a:srgbClr val="94A3B8"/>
                </a:solidFill>
                <a:latin typeface="Inter"/>
              </a:rPr>
              <a:t>·  Hermes bytecode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08576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ASPHALT-SNAPPED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TomTom Road Navigation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Never uses straight 'bird flight' lines. RealRoadmapView utilizes TomTom Routing API to snap emergency paths directly to asphalt roadways with live traffic.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08576" y="3566160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3621024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Inter"/>
              </a:rPr>
              <a:t>TomTom API  </a:t>
            </a:r>
            <a:r>
              <a:rPr sz="950">
                <a:solidFill>
                  <a:srgbClr val="94A3B8"/>
                </a:solidFill>
                <a:latin typeface="Inter"/>
              </a:rPr>
              <a:t>·  High-accuracy street-level polyline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8576" y="4315968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4370832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Inter"/>
              </a:rPr>
              <a:t>Live GPS  </a:t>
            </a:r>
            <a:r>
              <a:rPr sz="950">
                <a:solidFill>
                  <a:srgbClr val="94A3B8"/>
                </a:solidFill>
                <a:latin typeface="Inter"/>
              </a:rPr>
              <a:t>·  15-second courier location beacon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8576" y="5065776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0016" y="5120640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Inter"/>
              </a:rPr>
              <a:t>Turn-by-Turn  </a:t>
            </a:r>
            <a:r>
              <a:rPr sz="950">
                <a:solidFill>
                  <a:srgbClr val="94A3B8"/>
                </a:solidFill>
                <a:latin typeface="Inter"/>
              </a:rPr>
              <a:t>·  Clear navigation guidance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02752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FLUID INTERACTIONS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Slide-to-Accept &amp; Barcode Custody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Ergonomic slide-to-accept gesture with spring physics and haptics prevents accidental dispatch. Camera barcode scanner verifies physical chain of custody.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3566160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621024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  <a:latin typeface="Inter"/>
              </a:rPr>
              <a:t>Spring Physics  </a:t>
            </a:r>
            <a:r>
              <a:rPr sz="950">
                <a:solidFill>
                  <a:srgbClr val="94A3B8"/>
                </a:solidFill>
                <a:latin typeface="Inter"/>
              </a:rPr>
              <a:t>·  Native driver gesture tracking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4315968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370832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  <a:latin typeface="Inter"/>
              </a:rPr>
              <a:t>Barcode / QR  </a:t>
            </a:r>
            <a:r>
              <a:rPr sz="950">
                <a:solidFill>
                  <a:srgbClr val="94A3B8"/>
                </a:solidFill>
                <a:latin typeface="Inter"/>
              </a:rPr>
              <a:t>·  Scan verification at pickup &amp; delivery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5065776"/>
            <a:ext cx="2962656" cy="658368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5120640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  <a:latin typeface="Inter"/>
              </a:rPr>
              <a:t>Custody Handshake  </a:t>
            </a:r>
            <a:r>
              <a:rPr sz="950">
                <a:solidFill>
                  <a:srgbClr val="94A3B8"/>
                </a:solidFill>
                <a:latin typeface="Inter"/>
              </a:rPr>
              <a:t>·  Zero unverified handoffs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TRANSIT TELEMATICS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IoT Cold-Chain Telemetry &amp; Excursion Alerting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Real-time continuous temperature and vibration telemetry enforcing biological viability envelopes.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292608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BIOLOGICAL VIABILITY ENVELOPES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7183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Temperature &amp; Time Thresholds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43F5E"/>
                </a:solidFill>
                <a:latin typeface="Inter"/>
              </a:rPr>
              <a:t>Packed Red Blood Cells (PRBC)  (1°C to 6°C · 35 - 42 Days)
</a:t>
            </a:r>
            <a:r>
              <a:rPr sz="850">
                <a:solidFill>
                  <a:srgbClr val="94A3B8"/>
                </a:solidFill>
                <a:latin typeface="Inter"/>
              </a:rPr>
              <a:t>Excursion if &gt; 6.0°C or &lt; 1.0°C. Hemolysis occurs above 10°C.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59E0B"/>
                </a:solidFill>
                <a:latin typeface="Inter"/>
              </a:rPr>
              <a:t>Platelets  (20°C to 24°C · 5 Days Maximum)
</a:t>
            </a:r>
            <a:r>
              <a:rPr sz="850">
                <a:solidFill>
                  <a:srgbClr val="94A3B8"/>
                </a:solidFill>
                <a:latin typeface="Inter"/>
              </a:rPr>
              <a:t>Requires continuous gentle agitation; failure triggers platelet aggregation.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EA5E9"/>
                </a:solidFill>
                <a:latin typeface="Inter"/>
              </a:rPr>
              <a:t>Fresh Frozen Plasma (FFP)  (&lt;= -18°C · 1 Year Frozen)
</a:t>
            </a:r>
            <a:r>
              <a:rPr sz="850">
                <a:solidFill>
                  <a:srgbClr val="94A3B8"/>
                </a:solidFill>
                <a:latin typeface="Inter"/>
              </a:rPr>
              <a:t>Must be thawed at 30-37°C immediately prior to transfusion.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43F5E"/>
                </a:solidFill>
                <a:latin typeface="Inter"/>
              </a:rPr>
              <a:t>Solid Organs (Hearts / Lungs)  (4°C Cold Ischemia · &lt;= 4 Hours)
</a:t>
            </a:r>
            <a:r>
              <a:rPr sz="850">
                <a:solidFill>
                  <a:srgbClr val="94A3B8"/>
                </a:solidFill>
                <a:latin typeface="Inter"/>
              </a:rPr>
              <a:t>Strict surgical viability window. Zero margin for routing delays.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Inter"/>
              </a:rPr>
              <a:t>Solid Organs (Kidneys)  (4°C Cold Ischemia · &lt;= 24 Hours)
</a:t>
            </a:r>
            <a:r>
              <a:rPr sz="850">
                <a:solidFill>
                  <a:srgbClr val="94A3B8"/>
                </a:solidFill>
                <a:latin typeface="Inter"/>
              </a:rPr>
              <a:t>Extended perfusion window, requires continuous temperature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270" y="1691640"/>
            <a:ext cx="5175504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06870" y="1874519"/>
            <a:ext cx="292608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43F5E"/>
                </a:solidFill>
                <a:latin typeface="Inter"/>
              </a:rPr>
              <a:t>SUB-2S ALARM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6870" y="2240280"/>
            <a:ext cx="47183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Inter"/>
              </a:rPr>
              <a:t>Excursion Detection Dataflow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1. IoT Sensor Telemetry
</a:t>
            </a:r>
            <a:r>
              <a:rPr sz="950">
                <a:solidFill>
                  <a:srgbClr val="94A3B8"/>
                </a:solidFill>
                <a:latin typeface="Inter"/>
              </a:rPr>
              <a:t>Courier device or BLE smart container streams temperature &amp; GPS coordinates every 15-60 seconds to POST /api/v1/telemetry/log.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2. Backend Ingestion &amp; Verification
</a:t>
            </a:r>
            <a:r>
              <a:rPr sz="950">
                <a:solidFill>
                  <a:srgbClr val="94A3B8"/>
                </a:solidFill>
                <a:latin typeface="Inter"/>
              </a:rPr>
              <a:t>FastAPI gateway computes delta against biological tolerance profile. If reading &gt; threshold, trip excursion_flag = TRUE.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3. WebSocket Broadcast (&lt; 1.8s)
</a:t>
            </a:r>
            <a:r>
              <a:rPr sz="950">
                <a:solidFill>
                  <a:srgbClr val="94A3B8"/>
                </a:solidFill>
                <a:latin typeface="Inter"/>
              </a:rPr>
              <a:t>FastAPI emits real-time critical excursion payload to all connected Next.js Command Center browser sessions.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4. Operational Protocol
</a:t>
            </a:r>
            <a:r>
              <a:rPr sz="950">
                <a:solidFill>
                  <a:srgbClr val="94A3B8"/>
                </a:solidFill>
                <a:latin typeface="Inter"/>
              </a:rPr>
              <a:t>Visual flashing red banner and audible buzzer alert clinical coordinator. Secondary reroute protocol immediately initiated.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Inter"/>
              </a:rPr>
              <a:t>5. Immutable Audit Log
</a:t>
            </a:r>
            <a:r>
              <a:rPr sz="950">
                <a:solidFill>
                  <a:srgbClr val="94A3B8"/>
                </a:solidFill>
                <a:latin typeface="Inter"/>
              </a:rPr>
              <a:t>All telemetry entries persisted into transit_telemetry table for clinical accountability and regulatory post-mortems.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DATA ARCHITECTURE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Hybrid High-Availability Persistence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PostgreSQL / PostGIS cloud spatial store synchronized with local SQLite WAL ledger for resilient failover.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68880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HOSPITALS &amp; HUBS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Courier New"/>
              </a:rPr>
              <a:t>facilities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• id: UUID (PK)
• name: String
• facility_type: Enum
• trauma_level: 1 - 4
• quality_score: 0 - 100
• location: Geometry(Point)
• contact_phone: String
• GIST Spatial Index on 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3" y="1691640"/>
            <a:ext cx="2468880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21023" y="1874519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BIOLOGICAL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3" y="22402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Courier New"/>
              </a:rPr>
              <a:t>inventory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• id: UUID (PK)
• facility_id: UUID (FK)
• resource_type: Enum
• blood_group: Enum
• units_available: Int &gt;= 0
• storage_temp_celsius
• expiry_timestamp: DateTime
• Composite Index on batch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1691640"/>
            <a:ext cx="2468880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7" y="1874519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DISPATCH &amp; HITL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7" y="22402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Courier New"/>
              </a:rPr>
              <a:t>transfer_requests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• id: UUID (PK)
• origin_facility_id: FK
• destination_facility_id
• units_requested: Int &gt; 0
• urgency_tier: 1 - 5 (ESI)
• priority_score: Numeric
• status: Enum (HITL state)
• approved_by: User UUID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691640"/>
            <a:ext cx="2468880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25712" y="1874519"/>
            <a:ext cx="219456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43F5E"/>
                </a:solidFill>
                <a:latin typeface="Inter"/>
              </a:rPr>
              <a:t>COLD-CHAIN IOT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2402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Courier New"/>
              </a:rPr>
              <a:t>transit_telemetry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• id: UUID (PK)
• transfer_id: UUID (FK)
• recorded_at: DateTime
• current_location: Point
• temperature_celsius
• excursion_flag: Boolean
• High-velocity time-series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EMPIRICAL VALIDATION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System Verification &amp; Production Metrics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Measured latency, accuracy, and compliance metrics demonstrating real-world operational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68880" cy="16459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EA5E9"/>
                </a:solidFill>
                <a:latin typeface="Inter"/>
              </a:rPr>
              <a:t>TRIAGE EXTRACTION
</a:t>
            </a:r>
            <a:r>
              <a:rPr sz="2400" b="1">
                <a:solidFill>
                  <a:srgbClr val="F8FAFC"/>
                </a:solidFill>
                <a:latin typeface="Inter"/>
              </a:rPr>
              <a:t>&lt; 500 ms
</a:t>
            </a:r>
            <a:r>
              <a:rPr sz="850">
                <a:solidFill>
                  <a:srgbClr val="94A3B8"/>
                </a:solidFill>
                <a:latin typeface="Inter"/>
              </a:rPr>
              <a:t>Unstructured radio text to validated Pydantic 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3" y="1691640"/>
            <a:ext cx="2468880" cy="16459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3" y="17830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A855F7"/>
                </a:solidFill>
                <a:latin typeface="Inter"/>
              </a:rPr>
              <a:t>RE-ACT SOLVER
</a:t>
            </a:r>
            <a:r>
              <a:rPr sz="2400" b="1">
                <a:solidFill>
                  <a:srgbClr val="F8FAFC"/>
                </a:solidFill>
                <a:latin typeface="Inter"/>
              </a:rPr>
              <a:t>&lt; 3.5 s
</a:t>
            </a:r>
            <a:r>
              <a:rPr sz="850">
                <a:solidFill>
                  <a:srgbClr val="94A3B8"/>
                </a:solidFill>
                <a:latin typeface="Inter"/>
              </a:rPr>
              <a:t>Full multi-tool agentic loop &amp; reasoning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691640"/>
            <a:ext cx="2468880" cy="16459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7" y="17830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43F5E"/>
                </a:solidFill>
                <a:latin typeface="Inter"/>
              </a:rPr>
              <a:t>DEPLETION GUARDRAIL
</a:t>
            </a:r>
            <a:r>
              <a:rPr sz="2400" b="1">
                <a:solidFill>
                  <a:srgbClr val="F8FAFC"/>
                </a:solidFill>
                <a:latin typeface="Inter"/>
              </a:rPr>
              <a:t>0.40
</a:t>
            </a:r>
            <a:r>
              <a:rPr sz="850">
                <a:solidFill>
                  <a:srgbClr val="94A3B8"/>
                </a:solidFill>
                <a:latin typeface="Inter"/>
              </a:rPr>
              <a:t>100% adherence preventing secondary stockouts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91640"/>
            <a:ext cx="2468880" cy="1645920"/>
          </a:xfrm>
          <a:prstGeom prst="roundRect">
            <a:avLst/>
          </a:prstGeom>
          <a:solidFill>
            <a:srgbClr val="1C2434"/>
          </a:solidFill>
          <a:ln w="1524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7830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0B981"/>
                </a:solidFill>
                <a:latin typeface="Inter"/>
              </a:rPr>
              <a:t>EXPO DOCTOR PASS
</a:t>
            </a:r>
            <a:r>
              <a:rPr sz="2400" b="1">
                <a:solidFill>
                  <a:srgbClr val="F8FAFC"/>
                </a:solidFill>
                <a:latin typeface="Inter"/>
              </a:rPr>
              <a:t>20 / 20
</a:t>
            </a:r>
            <a:r>
              <a:rPr sz="850">
                <a:solidFill>
                  <a:srgbClr val="94A3B8"/>
                </a:solidFill>
                <a:latin typeface="Inter"/>
              </a:rPr>
              <a:t>SDK 58 clean health check &amp; zero type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5175504" cy="25603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3703320"/>
            <a:ext cx="274320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PREDICTIVE MODEL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71830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Model Evaluation on CDC NHAMCS Dataset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✓  Meta Prophet MASE: 1.08 (exceeding project threshold of &lt; 1.15).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✓  XGBoost PR-AUC: 0.86 (exceeding target of &gt;= 0.82) on sparse minority class.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✓  XGBoost Recall: 0.93 (exceeding target of &gt;= 0.90) ensuring near-zero missed stockout risks.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✓  Cyclical temporal encodings effectively isolate seasonal trauma admission peaks.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270" y="3520440"/>
            <a:ext cx="5175504" cy="25603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6870" y="3703320"/>
            <a:ext cx="2743200" cy="256032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END-TO-END PIPELINE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6870" y="4069080"/>
            <a:ext cx="471830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Inter"/>
              </a:rPr>
              <a:t>Complete Integration Verification Flow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✓  Ingested radio dispatch: 'Need 4 units O- blood at Apollo Greams Rd for trauma'.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✓  Extracted: PRBC, O-, 4 units, ESI Urgency Tier 1 (100% precision).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✓  Agent solved and ranked Regional Blood Transfusion Center (PI: 4.82, Distance: 6.4km).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✓  Authenticated HITL approval transitioned transfer from pending to in_transit.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Inter"/>
              </a:rPr>
              <a:t>✓  Courier mobile client received mission and initiated asphalt TomTom road routing.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Inter"/>
              </a:rPr>
              <a:t>The Future of Autonomous Clinical Logistics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Inter"/>
              </a:rPr>
              <a:t>Expanding from ground emergency courier dispatch to autonomous aerial corridors and federated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A5E9"/>
                </a:solidFill>
                <a:latin typeface="Inter"/>
              </a:rPr>
              <a:t>HORIZON 1 · 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Autonomous Drone Corridors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Integration with BVLOS (Beyond Visual Line of Sight) medical drone networks for bypass of urban traffic gridlock during ischemic organ transfers.</a:t>
            </a:r>
          </a:p>
          <a:p>
            <a:pPr>
              <a:spcBef>
                <a:spcPts val="1400"/>
              </a:spcBef>
            </a:p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→  Sub-15 minute organ transfer across metropolitan zones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→  Automated container parachute release &amp; dock telemetry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→  Direct air traffic ATC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08576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A855F7"/>
                </a:solidFill>
                <a:latin typeface="Inter"/>
              </a:rPr>
              <a:t>HORIZON 2 · MID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Federated Hospital Intelligence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Decentralized federated machine learning allowing hundreds of hospitals to collaboratively train demand models without sharing protected patient health data.</a:t>
            </a:r>
          </a:p>
          <a:p>
            <a:pPr>
              <a:spcBef>
                <a:spcPts val="1400"/>
              </a:spcBef>
            </a:p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→  HIPAA &amp; GDPR privacy-preserving model updates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→  Edge model training on local hospital servers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→  Resilience against nationwide catastrophe surges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91640"/>
            <a:ext cx="3328416" cy="4389120"/>
          </a:xfrm>
          <a:prstGeom prst="roundRect">
            <a:avLst/>
          </a:prstGeom>
          <a:solidFill>
            <a:srgbClr val="141A26"/>
          </a:solidFill>
          <a:ln w="1524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02752" y="1874519"/>
            <a:ext cx="2743200" cy="274320"/>
          </a:xfrm>
          <a:prstGeom prst="roundRect">
            <a:avLst/>
          </a:prstGeom>
          <a:solidFill>
            <a:srgbClr val="121823"/>
          </a:solidFill>
          <a:ln w="12700">
            <a:solidFill>
              <a:srgbClr val="2E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0B981"/>
                </a:solidFill>
                <a:latin typeface="Inter"/>
              </a:rPr>
              <a:t>HORIZON 3 · LONG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2402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Inter"/>
              </a:rPr>
              <a:t>Smart Active Biocontainers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Inter"/>
              </a:rPr>
              <a:t>Next-generation cryogenic containers with onboard Peltier thermoelectric cooling, satellite IoT mesh uplinks, and automated tamper-lock seals.</a:t>
            </a:r>
          </a:p>
          <a:p>
            <a:pPr>
              <a:spcBef>
                <a:spcPts val="1400"/>
              </a:spcBef>
            </a:p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→  Active closed-loop temperature self-correction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→  Satellite LEO constellation telemetry (zero dead zones)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8D7EB"/>
                </a:solidFill>
                <a:latin typeface="Inter"/>
              </a:rPr>
              <a:t>→  Cryptographic smart contract custody handoffs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0151F"/>
          </a:solidFill>
          <a:ln w="1524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tal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70" y="128016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2926080"/>
            <a:ext cx="88998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8FAFC"/>
                </a:solidFill>
                <a:latin typeface="Inter"/>
              </a:rPr>
              <a:t>Vitalis: Eliminating Preventable Clinical Stockouts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94A3B8"/>
                </a:solidFill>
                <a:latin typeface="Inter"/>
              </a:rPr>
              <a:t>By fusing autonomous agentic orchestration, predictive time-series modeling, and strict human clinical governance, Vitalis transforms fragile healthcare inventory silos into an infallible, life-saving collective network.</a:t>
            </a:r>
          </a:p>
          <a:p>
            <a:pPr algn="ctr">
              <a:spcBef>
                <a:spcPts val="2000"/>
              </a:spcBef>
            </a:pPr>
            <a:r>
              <a:rPr sz="1100" b="1">
                <a:solidFill>
                  <a:srgbClr val="0EA5E9"/>
                </a:solidFill>
                <a:latin typeface="Inter"/>
              </a:rPr>
              <a:t>THANK YOU  · 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Inter"/>
              </a:rPr>
              <a:t>VITALIS  ·  PREDICTIVE CLINICAL LOGISTICS PLATFORM</a:t>
            </a:r>
            <a:r>
              <a:rPr sz="850" b="1">
                <a:solidFill>
                  <a:srgbClr val="94A3B8"/>
                </a:solidFill>
                <a:latin typeface="Inter"/>
              </a:rPr>
              <a:t>                                                                                                                  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